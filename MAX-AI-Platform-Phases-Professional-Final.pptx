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4864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8CD4"/>
                </a:solidFill>
              </a:defRPr>
            </a:pPr>
            <a:r>
              <a:t>MAX Enterprise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334F6B"/>
                </a:solidFill>
              </a:defRPr>
            </a:pPr>
            <a:r>
              <a:t>A clean, professional phase and architecture presentation.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8600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1F2D3F"/>
                </a:solidFill>
              </a:defRPr>
            </a:pPr>
            <a:r>
              <a:t>Built for stakeholders, developers, and leadership reviews.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08CD4"/>
                </a:solidFill>
              </a:defRPr>
            </a:pPr>
            <a:r>
              <a:t>Vision &amp; 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334F6B"/>
                </a:solidFill>
              </a:defRPr>
            </a:pPr>
            <a:r>
              <a:t>AI observes, explains, and acts only with safe approval.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8412480" cy="109728"/>
          </a:xfrm>
          <a:prstGeom prst="rect">
            <a:avLst/>
          </a:prstGeom>
          <a:solidFill>
            <a:srgbClr val="00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194560"/>
            <a:ext cx="4114800" cy="2926080"/>
          </a:xfrm>
          <a:prstGeom prst="roundRect">
            <a:avLst/>
          </a:prstGeom>
          <a:solidFill>
            <a:srgbClr val="F4F9FD"/>
          </a:solidFill>
          <a:ln w="19050">
            <a:solidFill>
              <a:srgbClr val="009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ACFF"/>
                </a:solidFill>
              </a:defRPr>
            </a:pPr>
            <a:r>
              <a:t>Why it matters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Reduce downtime with proactive monitoring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Keep humans in control with approval and rollback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Provide clear confidence before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194560"/>
            <a:ext cx="4114800" cy="2926080"/>
          </a:xfrm>
          <a:prstGeom prst="roundRect">
            <a:avLst/>
          </a:prstGeom>
          <a:solidFill>
            <a:srgbClr val="F4F9FD"/>
          </a:solidFill>
          <a:ln w="19050">
            <a:solidFill>
              <a:srgbClr val="009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ACFF"/>
                </a:solidFill>
              </a:defRPr>
            </a:pPr>
            <a:r>
              <a:t>Business benefits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Faster issue resolution for teams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Safer automation of critical workflows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One platform for tech and business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08CD4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334F6B"/>
                </a:solidFill>
              </a:defRPr>
            </a:pPr>
            <a:r>
              <a:t>Modular system with UI, API, AI, and data layers.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8412480" cy="109728"/>
          </a:xfrm>
          <a:prstGeom prst="rect">
            <a:avLst/>
          </a:prstGeom>
          <a:solidFill>
            <a:srgbClr val="00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194560"/>
            <a:ext cx="4023360" cy="1280160"/>
          </a:xfrm>
          <a:prstGeom prst="roundRect">
            <a:avLst/>
          </a:prstGeom>
          <a:solidFill>
            <a:srgbClr val="F4F9FD"/>
          </a:solidFill>
          <a:ln w="19050">
            <a:solidFill>
              <a:srgbClr val="009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ACFF"/>
                </a:solidFill>
              </a:defRPr>
            </a:pPr>
            <a:r>
              <a:t>Web &amp; Mobile UI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Angular + PrimeNG responsive design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Role-based screens and voice/chat interaction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194560"/>
            <a:ext cx="4023360" cy="1280160"/>
          </a:xfrm>
          <a:prstGeom prst="roundRect">
            <a:avLst/>
          </a:prstGeom>
          <a:solidFill>
            <a:srgbClr val="F4F9FD"/>
          </a:solidFill>
          <a:ln w="19050">
            <a:solidFill>
              <a:srgbClr val="009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ACFF"/>
                </a:solidFill>
              </a:defRPr>
            </a:pPr>
            <a:r>
              <a:t>Backend API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ASP.NET Core with JWT/RBAC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Secure incident and action 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749039"/>
            <a:ext cx="4023360" cy="1280160"/>
          </a:xfrm>
          <a:prstGeom prst="roundRect">
            <a:avLst/>
          </a:prstGeom>
          <a:solidFill>
            <a:srgbClr val="F4F9FD"/>
          </a:solidFill>
          <a:ln w="19050">
            <a:solidFill>
              <a:srgbClr val="009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ACFF"/>
                </a:solidFill>
              </a:defRPr>
            </a:pPr>
            <a:r>
              <a:t>AI Orchestration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Python FastAPI + LangGraph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LLM, STT, TTS, and root-cause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3749039"/>
            <a:ext cx="4023360" cy="1280160"/>
          </a:xfrm>
          <a:prstGeom prst="roundRect">
            <a:avLst/>
          </a:prstGeom>
          <a:solidFill>
            <a:srgbClr val="F4F9FD"/>
          </a:solidFill>
          <a:ln w="19050">
            <a:solidFill>
              <a:srgbClr val="009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ACFF"/>
                </a:solidFill>
              </a:defRPr>
            </a:pPr>
            <a:r>
              <a:t>Data Layer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Kafka streaming, PostgreSQL + pgVector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Redis cache and real-time 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08CD4"/>
                </a:solidFill>
              </a:defRPr>
            </a:pPr>
            <a:r>
              <a:t>Implementation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334F6B"/>
                </a:solidFill>
              </a:defRPr>
            </a:pPr>
            <a:r>
              <a:t>Three focused phases for build, intelligence, and scale.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8412480" cy="109728"/>
          </a:xfrm>
          <a:prstGeom prst="rect">
            <a:avLst/>
          </a:prstGeom>
          <a:solidFill>
            <a:srgbClr val="00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286000"/>
            <a:ext cx="2651760" cy="2651760"/>
          </a:xfrm>
          <a:prstGeom prst="roundRect">
            <a:avLst/>
          </a:prstGeom>
          <a:solidFill>
            <a:srgbClr val="F4F9FD"/>
          </a:solidFill>
          <a:ln w="19050">
            <a:solidFill>
              <a:srgbClr val="009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ACFF"/>
                </a:solidFill>
              </a:defRPr>
            </a:pPr>
            <a:r>
              <a:t>Phase 1 — Foundation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Secure auth and OTP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Role-based dashboard and JWT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First app collector and Kafka pipeline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Basic incident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286000"/>
            <a:ext cx="2651760" cy="2651760"/>
          </a:xfrm>
          <a:prstGeom prst="roundRect">
            <a:avLst/>
          </a:prstGeom>
          <a:solidFill>
            <a:srgbClr val="F4F9FD"/>
          </a:solidFill>
          <a:ln w="19050">
            <a:solidFill>
              <a:srgbClr val="009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ACFF"/>
                </a:solidFill>
              </a:defRPr>
            </a:pPr>
            <a:r>
              <a:t>Phase 2 — AI Monitoring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Incident analysis and confidence score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Approval, escalation, rollback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Real-time alerts and voice support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Business AI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286000"/>
            <a:ext cx="2651760" cy="2651760"/>
          </a:xfrm>
          <a:prstGeom prst="roundRect">
            <a:avLst/>
          </a:prstGeom>
          <a:solidFill>
            <a:srgbClr val="F4F9FD"/>
          </a:solidFill>
          <a:ln w="19050">
            <a:solidFill>
              <a:srgbClr val="009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ACFF"/>
                </a:solidFill>
              </a:defRPr>
            </a:pPr>
            <a:r>
              <a:t>Phase 3 — Autonomous AI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Agent orchestration and knowledge base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Mobile-ready UX and broader integrations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Safe automation with human gating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08CD4"/>
                </a:solidFill>
              </a:defRPr>
            </a:pPr>
            <a:r>
              <a:t>Mobile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334F6B"/>
                </a:solidFill>
              </a:defRPr>
            </a:pPr>
            <a:r>
              <a:t>Mobile-ready delivery is included in every phase.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8412480" cy="109728"/>
          </a:xfrm>
          <a:prstGeom prst="rect">
            <a:avLst/>
          </a:prstGeom>
          <a:solidFill>
            <a:srgbClr val="00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194560"/>
            <a:ext cx="4023360" cy="2743200"/>
          </a:xfrm>
          <a:prstGeom prst="roundRect">
            <a:avLst/>
          </a:prstGeom>
          <a:solidFill>
            <a:srgbClr val="F4F9FD"/>
          </a:solidFill>
          <a:ln w="19050">
            <a:solidFill>
              <a:srgbClr val="009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ACFF"/>
                </a:solidFill>
              </a:defRPr>
            </a:pPr>
            <a:r>
              <a:t>Phase 1 — Mobile Foundation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Responsive UI and mobile-first layout design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API contracts for compact mobile screens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Voice/chat widget ready for phones and tablets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194560"/>
            <a:ext cx="4023360" cy="2743200"/>
          </a:xfrm>
          <a:prstGeom prst="roundRect">
            <a:avLst/>
          </a:prstGeom>
          <a:solidFill>
            <a:srgbClr val="F4F9FD"/>
          </a:solidFill>
          <a:ln w="19050">
            <a:solidFill>
              <a:srgbClr val="009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ACFF"/>
                </a:solidFill>
              </a:defRPr>
            </a:pPr>
            <a:r>
              <a:t>Phase 2 — Mobile UX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Touch-friendly approvals and alerts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Compact incident summaries and charts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Mobile-friendly notification and audio 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120640"/>
            <a:ext cx="8321040" cy="1280160"/>
          </a:xfrm>
          <a:prstGeom prst="roundRect">
            <a:avLst/>
          </a:prstGeom>
          <a:solidFill>
            <a:srgbClr val="F4F9FD"/>
          </a:solidFill>
          <a:ln w="19050">
            <a:solidFill>
              <a:srgbClr val="009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ACFF"/>
                </a:solidFill>
              </a:defRPr>
            </a:pPr>
            <a:r>
              <a:t>Phase 3 — Mobile Scale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Optimize performance for phones/tablets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Prepare backend APIs for native apps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Mobile-ready escalation, rollback, and business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008CD4"/>
                </a:solidFill>
              </a:defRPr>
            </a:pPr>
            <a:r>
              <a:t>Why Phase-Based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334F6B"/>
                </a:solidFill>
              </a:defRPr>
            </a:pPr>
            <a:r>
              <a:t>A staged rollout reduces risk and clarifies progress.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8412480" cy="109728"/>
          </a:xfrm>
          <a:prstGeom prst="rect">
            <a:avLst/>
          </a:prstGeom>
          <a:solidFill>
            <a:srgbClr val="00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194560"/>
            <a:ext cx="4023360" cy="2926080"/>
          </a:xfrm>
          <a:prstGeom prst="roundRect">
            <a:avLst/>
          </a:prstGeom>
          <a:solidFill>
            <a:srgbClr val="F4F9FD"/>
          </a:solidFill>
          <a:ln w="19050">
            <a:solidFill>
              <a:srgbClr val="009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ACFF"/>
                </a:solidFill>
              </a:defRPr>
            </a:pPr>
            <a:r>
              <a:t>Key Benefits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Clear milestones for teams and stakeholders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Secure foundation before advanced automation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Incremental validation and reduced risk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Faster adoption with simpler reviews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194560"/>
            <a:ext cx="4023360" cy="2926080"/>
          </a:xfrm>
          <a:prstGeom prst="roundRect">
            <a:avLst/>
          </a:prstGeom>
          <a:solidFill>
            <a:srgbClr val="F4F9FD"/>
          </a:solidFill>
          <a:ln w="19050">
            <a:solidFill>
              <a:srgbClr val="009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0ACFF"/>
                </a:solidFill>
              </a:defRPr>
            </a:pPr>
            <a:r>
              <a:t>Next Steps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Finalize Phase 1 MVP scope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Build core auth, monitoring, and incident flow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Deliver AI monitoring and business capabilities</a:t>
            </a:r>
          </a:p>
          <a:p>
            <a:pPr>
              <a:spcAft>
                <a:spcPts val="400"/>
              </a:spcAft>
              <a:defRPr sz="1600">
                <a:solidFill>
                  <a:srgbClr val="1F2D3F"/>
                </a:solidFill>
              </a:defRPr>
            </a:pPr>
            <a:r>
              <a:t>• Prepare for mobile-ready Phase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